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CED6"/>
    <a:srgbClr val="333F50"/>
    <a:srgbClr val="F27A7A"/>
    <a:srgbClr val="49A954"/>
    <a:srgbClr val="616CBD"/>
    <a:srgbClr val="BACBD3"/>
    <a:srgbClr val="BCCAD3"/>
    <a:srgbClr val="BDCDD5"/>
    <a:srgbClr val="BDCDD8"/>
    <a:srgbClr val="BCC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DB32F-BC41-403A-8064-F7C983183DA1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78477-9015-4330-AB92-765740DCEA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0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78477-9015-4330-AB92-765740DCEA7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666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9B3AD5-F7AF-165E-2781-3B00E92D2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D6F126-7388-3985-8909-B6CD2C093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538431-3269-E798-4F1A-83B1DF84D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431D85-A488-C69A-4C93-F25C9FB3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37BA63-EE7D-40EB-880E-C2FB7510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59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CB92B7-9D67-C538-DFD2-C0BEDC6A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97C803-13AF-9005-0758-A9B39E752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88DBC1-36D4-69E5-7465-869401B8A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CB3A78-0BB0-E0CD-AE53-B47493AC3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D1AF98-DEAE-5BE1-187A-D70F4504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92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5ABD9-73F7-E85A-A954-286ED00F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FE1E94-6E40-85CF-E0D7-03E826CD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EBAB70-945E-0B0B-3976-B55A22AD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94B6F3-D0E6-D1F9-BFE7-E4974479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6AAD08-D757-0D57-939A-5F386330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59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FC5EC0-8EE2-2CAA-A339-59BE6DBB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832D4C-7370-73FD-3A10-B79BDFE81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3A8993-ECDA-0495-DE8F-5A2D23A1D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E70E86-9A81-8A83-49A7-ADA13B55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83A276-9998-A90B-9877-345070AD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3C6C64-A6A2-98DA-6F5D-3794C70C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79DF1-195E-81FC-3564-C4184957E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447A37-35F3-0DF5-C8EC-2578BE790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14D8D6-15CD-56CE-C47A-1F7EE46BF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84845F0-E78D-82E5-364A-1A8574B5F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237994-D087-ECFD-4836-C93B89E0B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7598950-F0C7-5171-7E6A-7BFC25B8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5376F62-3838-0A6F-3551-1BCD37518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33E5EFE-763D-6C3E-ABDF-B8F1BA7A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77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2489A5-D153-F97A-AEAB-5454FBEE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320578-0E12-2EDF-49B1-5DAE343F4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25343C-AF18-BF50-29F0-1DD2DE39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E83D7F-E7A1-84AA-C5F0-66999AF5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28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23F9BD-F835-ACEF-E17F-AB6F3E52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A3D3F31-C779-29B4-1621-16B0847C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98F3B6-EB04-D5B0-D2ED-6C05B821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202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2ADE7-E06F-6935-5C36-3C48DEBE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DF25D4-89EB-EBEF-51A6-696E309E9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C76F0A-624B-9CC0-D19F-2148FDC84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B38A4D-4624-6E72-9BCD-ED7844CC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2A3CCB-AC1A-4855-0276-FFDCF017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A3D30D-327E-D76D-59C4-8AC77F57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06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065DB-4966-2906-93AB-9BCF6CE2E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3B84BC3-74E0-DFDE-A8F0-878A730B6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7D6A31-8E63-D818-D572-660722186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F1C53A-A2A7-F9A9-F3AB-BF887918F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AB1996-6766-7138-7579-4D2784B9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A0BA17-51F8-5CBB-404D-4184A2538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589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566CB9-1B14-D3C0-53F9-D1979188E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F53E65-4E79-EF43-71D6-F47905666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F1250E-89F5-0591-4C90-86D8B508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F04F22-2CB3-39B7-4FCA-E8DDB4DC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7B121B-1714-75C8-CA19-51B1C2F0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10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16519AC-8BCC-8C25-6917-19D52FA9C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2B726F-CA7C-0CAF-C175-C276AD20D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EB9ECD-11CA-1340-2D70-64250C125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5D8A3D-E6DA-39A0-3A4E-1445C3AC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1BCA39-74E4-EEDE-3FA4-B61A8C6D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57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417FEEE-BD3B-B067-3389-829C970CD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DD2356-5AB8-A52D-37D6-2F34AC8FB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8EAE88-DB0B-A801-CE00-FCACC58EBE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B8EC2-0BFB-4166-9183-70E364488475}" type="datetimeFigureOut">
              <a:rPr lang="fr-FR" smtClean="0"/>
              <a:t>09/03/2025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2390C4-BC9E-CDB1-223B-966A1A4E8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E0E985-CDB5-9483-63F5-B11458311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7990E-02C4-4586-B5B8-F5E7567C89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001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D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17AF124-803F-A4DE-F1E8-D84CB4D22984}"/>
              </a:ext>
            </a:extLst>
          </p:cNvPr>
          <p:cNvSpPr txBox="1"/>
          <p:nvPr/>
        </p:nvSpPr>
        <p:spPr>
          <a:xfrm>
            <a:off x="740056" y="1562290"/>
            <a:ext cx="53675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>
                    <a:lumMod val="75000"/>
                  </a:schemeClr>
                </a:solidFill>
              </a:rPr>
              <a:t>Mise en place d’une nouvelle solution de sauvegarde avec </a:t>
            </a:r>
            <a:r>
              <a:rPr lang="fr-FR" sz="3200" b="1" dirty="0" err="1">
                <a:solidFill>
                  <a:schemeClr val="accent2">
                    <a:lumMod val="75000"/>
                  </a:schemeClr>
                </a:solidFill>
              </a:rPr>
              <a:t>rsync</a:t>
            </a:r>
            <a:endParaRPr lang="fr-FR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79A3F42-0958-7CCB-C032-A314890BE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316" y="1842512"/>
            <a:ext cx="3976777" cy="397677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B8D7178-0597-48BC-31A0-D4F437E62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E4D418F-CDDD-5FAB-EA5F-6B93C644849B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2311038-6613-CDCC-EA5D-9E011D6B0F26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55D2D09-29DC-CFCB-9856-C4519C4497B3}"/>
              </a:ext>
            </a:extLst>
          </p:cNvPr>
          <p:cNvSpPr txBox="1"/>
          <p:nvPr/>
        </p:nvSpPr>
        <p:spPr>
          <a:xfrm>
            <a:off x="1289785" y="3840480"/>
            <a:ext cx="407355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Ticket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Schéma des flux de données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Stratégies de sauvegardes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Détail du script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Restauration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62878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D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87D6B-3C32-2255-1478-24F49D00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6AE62C0-C38C-7BEF-0175-D2F7BD723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16BA821-755C-8C5E-0EB4-501327C98A94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926ABE6-C9BE-EFDD-C2BF-02A7A07AF49C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6C08DA35-5E1A-BB29-4DFF-730788A8994E}"/>
              </a:ext>
            </a:extLst>
          </p:cNvPr>
          <p:cNvSpPr txBox="1"/>
          <p:nvPr/>
        </p:nvSpPr>
        <p:spPr>
          <a:xfrm>
            <a:off x="5678906" y="288758"/>
            <a:ext cx="5323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tx2">
                    <a:lumMod val="75000"/>
                  </a:schemeClr>
                </a:solidFill>
              </a:rPr>
              <a:t>Ticket – Incident perte de données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2F66DB-3880-1661-C15E-8A4DBFA43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606" y="1717229"/>
            <a:ext cx="5496692" cy="400105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4026FF8-4739-CFE1-834E-E5F47D930C9D}"/>
              </a:ext>
            </a:extLst>
          </p:cNvPr>
          <p:cNvSpPr txBox="1"/>
          <p:nvPr/>
        </p:nvSpPr>
        <p:spPr>
          <a:xfrm>
            <a:off x="308009" y="1963554"/>
            <a:ext cx="55249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>
                <a:solidFill>
                  <a:schemeClr val="tx2">
                    <a:lumMod val="75000"/>
                  </a:schemeClr>
                </a:solidFill>
              </a:rPr>
              <a:t>Gestion de l’incident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342900" indent="-342900">
              <a:buFont typeface="+mj-lt"/>
              <a:buAutoNum type="arabicParenR"/>
            </a:pPr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Vérification de la présence d’une sauvegarde sur le serveur</a:t>
            </a:r>
          </a:p>
          <a:p>
            <a:pPr marL="342900" indent="-342900">
              <a:buFont typeface="+mj-lt"/>
              <a:buAutoNum type="arabicParenR"/>
            </a:pPr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Vérification de la date souhaitée</a:t>
            </a:r>
          </a:p>
          <a:p>
            <a:pPr marL="342900" indent="-342900">
              <a:buFont typeface="+mj-lt"/>
              <a:buAutoNum type="arabicParenR"/>
            </a:pPr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Restauration des données</a:t>
            </a:r>
          </a:p>
          <a:p>
            <a:pPr marL="342900" indent="-342900">
              <a:buFont typeface="+mj-lt"/>
              <a:buAutoNum type="arabicParenR"/>
            </a:pPr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Confirmation que les données récupérées sont les bonnes</a:t>
            </a:r>
          </a:p>
        </p:txBody>
      </p:sp>
    </p:spTree>
    <p:extLst>
      <p:ext uri="{BB962C8B-B14F-4D97-AF65-F5344CB8AC3E}">
        <p14:creationId xmlns:p14="http://schemas.microsoft.com/office/powerpoint/2010/main" val="80401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26117-401B-C35B-3C63-50546A4D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1171EC1-1FBE-E4FF-A57D-EC16B4F4F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56ABF99-CF23-6CBD-5946-71C1EF243CF3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1CB7268-D938-8D20-9E93-B7BBEFA23187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FC9D848B-8197-6FE4-014A-6F1087CB0651}"/>
              </a:ext>
            </a:extLst>
          </p:cNvPr>
          <p:cNvSpPr txBox="1"/>
          <p:nvPr/>
        </p:nvSpPr>
        <p:spPr>
          <a:xfrm>
            <a:off x="5678906" y="288758"/>
            <a:ext cx="4398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tx2">
                    <a:lumMod val="75000"/>
                  </a:schemeClr>
                </a:solidFill>
              </a:rPr>
              <a:t>Schéma des flux de données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26BE3B1-AC34-E3BE-1B5F-96F5EC545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813" y="1122317"/>
            <a:ext cx="8569980" cy="552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5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FCB28-918B-14EB-2BDE-3A23A027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D9250612-CE34-49E4-F185-39AF28A67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ABD3A7D-24E1-79CD-A4B9-DA517BB9C6B7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7A9830D-5762-3735-2A48-055C36C75C2A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D3E746D7-5F05-AD7E-2917-9DFA20952703}"/>
              </a:ext>
            </a:extLst>
          </p:cNvPr>
          <p:cNvSpPr txBox="1"/>
          <p:nvPr/>
        </p:nvSpPr>
        <p:spPr>
          <a:xfrm>
            <a:off x="5678906" y="288758"/>
            <a:ext cx="4037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333F50"/>
                </a:solidFill>
              </a:rPr>
              <a:t>Stratégies de sauvegardes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193B1C8-914F-9EAA-94B7-BFED2F677237}"/>
              </a:ext>
            </a:extLst>
          </p:cNvPr>
          <p:cNvSpPr/>
          <p:nvPr/>
        </p:nvSpPr>
        <p:spPr>
          <a:xfrm>
            <a:off x="442763" y="1528812"/>
            <a:ext cx="3388093" cy="4591251"/>
          </a:xfrm>
          <a:prstGeom prst="roundRect">
            <a:avLst/>
          </a:prstGeom>
          <a:solidFill>
            <a:srgbClr val="F27A7A">
              <a:alpha val="6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053D90D-A61C-607F-366B-36074533BB54}"/>
              </a:ext>
            </a:extLst>
          </p:cNvPr>
          <p:cNvSpPr/>
          <p:nvPr/>
        </p:nvSpPr>
        <p:spPr>
          <a:xfrm>
            <a:off x="4445267" y="1528812"/>
            <a:ext cx="3388093" cy="4591251"/>
          </a:xfrm>
          <a:prstGeom prst="roundRect">
            <a:avLst/>
          </a:prstGeom>
          <a:solidFill>
            <a:srgbClr val="616CBD">
              <a:alpha val="6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2FE4648-3B27-146C-5B7E-C4B642CCD64B}"/>
              </a:ext>
            </a:extLst>
          </p:cNvPr>
          <p:cNvSpPr/>
          <p:nvPr/>
        </p:nvSpPr>
        <p:spPr>
          <a:xfrm>
            <a:off x="8418896" y="1528812"/>
            <a:ext cx="3388093" cy="4591251"/>
          </a:xfrm>
          <a:prstGeom prst="roundRect">
            <a:avLst/>
          </a:prstGeom>
          <a:solidFill>
            <a:srgbClr val="49A954">
              <a:alpha val="6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57E1C24-DCAA-B2BE-5A35-3272929600EF}"/>
              </a:ext>
            </a:extLst>
          </p:cNvPr>
          <p:cNvSpPr txBox="1"/>
          <p:nvPr/>
        </p:nvSpPr>
        <p:spPr>
          <a:xfrm>
            <a:off x="899932" y="1597793"/>
            <a:ext cx="2473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>
                    <a:lumMod val="75000"/>
                  </a:schemeClr>
                </a:solidFill>
              </a:rPr>
              <a:t>Sauvegarde complète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42F6D3-F853-B85B-D8B3-EC1ED84D807A}"/>
              </a:ext>
            </a:extLst>
          </p:cNvPr>
          <p:cNvSpPr txBox="1"/>
          <p:nvPr/>
        </p:nvSpPr>
        <p:spPr>
          <a:xfrm>
            <a:off x="4711069" y="1626669"/>
            <a:ext cx="2856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>
                    <a:lumMod val="75000"/>
                  </a:schemeClr>
                </a:solidFill>
              </a:rPr>
              <a:t>Sauvegarde différentielle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34BF4A9-D08C-CDA3-5AEE-52482668C646}"/>
              </a:ext>
            </a:extLst>
          </p:cNvPr>
          <p:cNvSpPr txBox="1"/>
          <p:nvPr/>
        </p:nvSpPr>
        <p:spPr>
          <a:xfrm>
            <a:off x="8671682" y="1636294"/>
            <a:ext cx="2882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2">
                    <a:lumMod val="75000"/>
                  </a:schemeClr>
                </a:solidFill>
              </a:rPr>
              <a:t>Sauvegarde incrémentale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04B08B9-719A-E5EF-A014-DEB9415391EA}"/>
              </a:ext>
            </a:extLst>
          </p:cNvPr>
          <p:cNvSpPr txBox="1"/>
          <p:nvPr/>
        </p:nvSpPr>
        <p:spPr>
          <a:xfrm>
            <a:off x="392008" y="2882763"/>
            <a:ext cx="353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Utilisée sur l’ensemble des données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4F816394-5E0A-FB86-629E-19242EA19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90" y="2496123"/>
            <a:ext cx="490887" cy="443264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0D920E0-0A46-C4EB-7DD3-B8DE6BE15A96}"/>
              </a:ext>
            </a:extLst>
          </p:cNvPr>
          <p:cNvSpPr txBox="1"/>
          <p:nvPr/>
        </p:nvSpPr>
        <p:spPr>
          <a:xfrm>
            <a:off x="1068407" y="5122707"/>
            <a:ext cx="291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Deux semaines de rétention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482A1DE2-ECE4-EFCA-52D7-D0DFB0C36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22" y="4899261"/>
            <a:ext cx="871939" cy="78734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65720DC-B1F3-AB4B-5E04-87B0AE523A7B}"/>
              </a:ext>
            </a:extLst>
          </p:cNvPr>
          <p:cNvSpPr txBox="1"/>
          <p:nvPr/>
        </p:nvSpPr>
        <p:spPr>
          <a:xfrm>
            <a:off x="962532" y="3901025"/>
            <a:ext cx="3147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Hebdomadaire</a:t>
            </a:r>
          </a:p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Vendredi à 1h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825F6883-CCDE-530C-7CA3-E82ECD981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21" y="3930351"/>
            <a:ext cx="650818" cy="587679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3A57ED1E-0155-B37A-1A5E-6996224E5DF2}"/>
              </a:ext>
            </a:extLst>
          </p:cNvPr>
          <p:cNvSpPr txBox="1"/>
          <p:nvPr/>
        </p:nvSpPr>
        <p:spPr>
          <a:xfrm>
            <a:off x="5101387" y="5113082"/>
            <a:ext cx="2338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Sept jours de rétention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5DDCC160-E910-0836-0FC3-0F48421B0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177" y="4899261"/>
            <a:ext cx="871939" cy="787348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7D268D9-0AD6-A3B3-ACA7-816BD24D0DC4}"/>
              </a:ext>
            </a:extLst>
          </p:cNvPr>
          <p:cNvSpPr txBox="1"/>
          <p:nvPr/>
        </p:nvSpPr>
        <p:spPr>
          <a:xfrm>
            <a:off x="9163247" y="5122707"/>
            <a:ext cx="2338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Sept jours de rétention</a:t>
            </a:r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6D838A69-3F17-C7B8-F6C8-4385DB734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432" y="4899261"/>
            <a:ext cx="871939" cy="787348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1359FEB-26E7-D7BF-66D5-2F2ADB2E66AE}"/>
              </a:ext>
            </a:extLst>
          </p:cNvPr>
          <p:cNvSpPr txBox="1"/>
          <p:nvPr/>
        </p:nvSpPr>
        <p:spPr>
          <a:xfrm>
            <a:off x="4985889" y="3901025"/>
            <a:ext cx="1950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Quotidienne</a:t>
            </a:r>
          </a:p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Tous les jours, à 2h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776A9118-DF9A-F817-825D-D1B7A5ADD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302" y="3930351"/>
            <a:ext cx="650818" cy="587679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328EEF8D-D51D-5AC9-D34B-2F0DF5A0418D}"/>
              </a:ext>
            </a:extLst>
          </p:cNvPr>
          <p:cNvSpPr txBox="1"/>
          <p:nvPr/>
        </p:nvSpPr>
        <p:spPr>
          <a:xfrm>
            <a:off x="8518365" y="3818849"/>
            <a:ext cx="2393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Mails, RH, Tickets, Site :</a:t>
            </a:r>
          </a:p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Quotidienne</a:t>
            </a:r>
          </a:p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Tous les jours, à 3h</a:t>
            </a: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F91FA88C-5879-8C48-90C9-1BFBF2D2F5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554" y="3367185"/>
            <a:ext cx="650818" cy="58767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EBB6251E-4C12-ACC9-181B-8DB6BD14380D}"/>
              </a:ext>
            </a:extLst>
          </p:cNvPr>
          <p:cNvSpPr txBox="1"/>
          <p:nvPr/>
        </p:nvSpPr>
        <p:spPr>
          <a:xfrm>
            <a:off x="4460185" y="2873940"/>
            <a:ext cx="296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Utilisée pour les gros fichiers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11D29AFC-2978-143A-ACD1-40C50CAE2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185" y="2504946"/>
            <a:ext cx="490887" cy="44326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F8E96AD5-B20E-E40A-84E1-78D15B524027}"/>
              </a:ext>
            </a:extLst>
          </p:cNvPr>
          <p:cNvSpPr txBox="1"/>
          <p:nvPr/>
        </p:nvSpPr>
        <p:spPr>
          <a:xfrm>
            <a:off x="8412481" y="2874742"/>
            <a:ext cx="3476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Utilisée pour les fichiers plus légers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2E2758E5-8F29-992D-9C3D-EDA9417FE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1" y="2504143"/>
            <a:ext cx="490887" cy="44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0C780-7E35-8E69-4945-08C267AF3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F643E311-94AA-A23D-C429-376E7C19D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1FE70DA-430F-978C-4FDE-178BE3F023BA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BCA4F21-EDB5-CAC6-B753-1DE0A386C487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CF222679-A45D-9E42-C273-514B12606636}"/>
              </a:ext>
            </a:extLst>
          </p:cNvPr>
          <p:cNvSpPr txBox="1"/>
          <p:nvPr/>
        </p:nvSpPr>
        <p:spPr>
          <a:xfrm>
            <a:off x="5678906" y="288758"/>
            <a:ext cx="4242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333F50"/>
                </a:solidFill>
              </a:rPr>
              <a:t>Détail des options du script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1913EA1-E4A0-3AB9-4797-F5C4B4F7DC49}"/>
              </a:ext>
            </a:extLst>
          </p:cNvPr>
          <p:cNvSpPr txBox="1"/>
          <p:nvPr/>
        </p:nvSpPr>
        <p:spPr>
          <a:xfrm>
            <a:off x="813541" y="1570146"/>
            <a:ext cx="1066509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333F50"/>
                </a:solidFill>
              </a:rPr>
              <a:t>Paramètres de base, pour l’ensemble des sauvegardes :</a:t>
            </a:r>
          </a:p>
          <a:p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rsync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-a --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progress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--partial --partial-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dir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=.partial </a:t>
            </a: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-a </a:t>
            </a:r>
            <a:r>
              <a:rPr lang="fr-FR" dirty="0">
                <a:solidFill>
                  <a:srgbClr val="333F50"/>
                </a:solidFill>
              </a:rPr>
              <a:t>: mode archivage</a:t>
            </a:r>
          </a:p>
          <a:p>
            <a:r>
              <a:rPr lang="fr-FR" dirty="0">
                <a:solidFill>
                  <a:srgbClr val="333F50"/>
                </a:solidFill>
              </a:rPr>
              <a:t>Copie récursive. Préservation du groupe, du propriétaire, des permissions, de l’horodatage, des </a:t>
            </a:r>
            <a:r>
              <a:rPr lang="fr-FR" dirty="0" err="1">
                <a:solidFill>
                  <a:srgbClr val="333F50"/>
                </a:solidFill>
              </a:rPr>
              <a:t>symlinks</a:t>
            </a:r>
            <a:r>
              <a:rPr lang="fr-FR" dirty="0">
                <a:solidFill>
                  <a:srgbClr val="333F50"/>
                </a:solidFill>
              </a:rPr>
              <a:t>, etc.</a:t>
            </a: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--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progress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dirty="0">
                <a:solidFill>
                  <a:srgbClr val="333F50"/>
                </a:solidFill>
              </a:rPr>
              <a:t>: afficher la progression en temps réel</a:t>
            </a: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--partial </a:t>
            </a:r>
            <a:r>
              <a:rPr lang="fr-FR" dirty="0">
                <a:solidFill>
                  <a:srgbClr val="333F50"/>
                </a:solidFill>
              </a:rPr>
              <a:t>: permet de reprendre un transfert qui a été interrompu, tout en gardant les données qui déjà été transférées</a:t>
            </a: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--partial-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dir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=.partial </a:t>
            </a:r>
            <a:r>
              <a:rPr lang="fr-FR" dirty="0">
                <a:solidFill>
                  <a:srgbClr val="333F50"/>
                </a:solidFill>
              </a:rPr>
              <a:t>: crée un dossier .partial qui contient les données durant un transfert. En cas d’interruption, le dossier .partial persiste. Utilisé pour détecter des interruptions.</a:t>
            </a:r>
          </a:p>
        </p:txBody>
      </p:sp>
    </p:spTree>
    <p:extLst>
      <p:ext uri="{BB962C8B-B14F-4D97-AF65-F5344CB8AC3E}">
        <p14:creationId xmlns:p14="http://schemas.microsoft.com/office/powerpoint/2010/main" val="370127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031CD-75A2-44BA-7B5D-7D77E707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C41FC88C-EB5D-EBBB-392D-984C418F0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A86B3CA-2A6E-81BA-0248-79C9544ACD10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4B1C628-EFA2-D85D-18B2-BFEC77ADC04C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0921A642-8693-2E06-AE27-A39B8B30DDC5}"/>
              </a:ext>
            </a:extLst>
          </p:cNvPr>
          <p:cNvSpPr txBox="1"/>
          <p:nvPr/>
        </p:nvSpPr>
        <p:spPr>
          <a:xfrm>
            <a:off x="5678906" y="288758"/>
            <a:ext cx="4242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333F50"/>
                </a:solidFill>
              </a:rPr>
              <a:t>Détail des options du script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CA9467-52FA-0863-0959-55527C0E3D3C}"/>
              </a:ext>
            </a:extLst>
          </p:cNvPr>
          <p:cNvSpPr txBox="1"/>
          <p:nvPr/>
        </p:nvSpPr>
        <p:spPr>
          <a:xfrm>
            <a:off x="813541" y="1570146"/>
            <a:ext cx="1066509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333F50"/>
                </a:solidFill>
              </a:rPr>
              <a:t>Options spécifiques au mode incrémental :</a:t>
            </a:r>
          </a:p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--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link-dest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rgbClr val="333F50"/>
                </a:solidFill>
              </a:rPr>
              <a:t>Utilisation d’une référence :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rsync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[paramètres] --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link-dest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=/référence/ /source/ /destination/</a:t>
            </a: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rgbClr val="333F50"/>
                </a:solidFill>
              </a:rPr>
              <a:t>Avec </a:t>
            </a:r>
            <a:r>
              <a:rPr lang="fr-FR" dirty="0">
                <a:solidFill>
                  <a:srgbClr val="0070C0"/>
                </a:solidFill>
              </a:rPr>
              <a:t>--</a:t>
            </a:r>
            <a:r>
              <a:rPr lang="fr-FR" dirty="0" err="1">
                <a:solidFill>
                  <a:srgbClr val="0070C0"/>
                </a:solidFill>
              </a:rPr>
              <a:t>link-dest</a:t>
            </a:r>
            <a:r>
              <a:rPr lang="fr-FR" dirty="0">
                <a:solidFill>
                  <a:srgbClr val="333F50"/>
                </a:solidFill>
              </a:rPr>
              <a:t>, la référence est soit la dernière sauvegarde complète, soit la dernière sauvegarde incrémentale (si elle existe). </a:t>
            </a:r>
          </a:p>
          <a:p>
            <a:r>
              <a:rPr lang="fr-FR" dirty="0">
                <a:solidFill>
                  <a:srgbClr val="333F50"/>
                </a:solidFill>
              </a:rPr>
              <a:t>Créer des </a:t>
            </a:r>
            <a:r>
              <a:rPr lang="fr-FR" dirty="0" err="1">
                <a:solidFill>
                  <a:srgbClr val="333F50"/>
                </a:solidFill>
              </a:rPr>
              <a:t>hardlinks</a:t>
            </a:r>
            <a:r>
              <a:rPr lang="fr-FR" dirty="0">
                <a:solidFill>
                  <a:srgbClr val="333F50"/>
                </a:solidFill>
              </a:rPr>
              <a:t> (inodes similaires) au lieu de copier les fichiers existants.</a:t>
            </a: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b="1" dirty="0">
                <a:solidFill>
                  <a:srgbClr val="333F50"/>
                </a:solidFill>
              </a:rPr>
              <a:t>Options spécifiques au monde différentiel :</a:t>
            </a:r>
          </a:p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--compare-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rgbClr val="333F50"/>
                </a:solidFill>
              </a:rPr>
              <a:t>Utilisation d’une référence : 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rsync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[paramètres] --compare-</a:t>
            </a:r>
            <a:r>
              <a:rPr lang="fr-FR" dirty="0" err="1">
                <a:solidFill>
                  <a:schemeClr val="accent1">
                    <a:lumMod val="75000"/>
                  </a:schemeClr>
                </a:solidFill>
              </a:rPr>
              <a:t>dest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=/référence/ /source/ /destination/</a:t>
            </a:r>
          </a:p>
          <a:p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dirty="0">
                <a:solidFill>
                  <a:srgbClr val="333F50"/>
                </a:solidFill>
              </a:rPr>
              <a:t>Avec </a:t>
            </a:r>
            <a:r>
              <a:rPr lang="fr-FR" dirty="0">
                <a:solidFill>
                  <a:srgbClr val="0070C0"/>
                </a:solidFill>
              </a:rPr>
              <a:t>--compare-</a:t>
            </a:r>
            <a:r>
              <a:rPr lang="fr-FR" dirty="0" err="1">
                <a:solidFill>
                  <a:srgbClr val="0070C0"/>
                </a:solidFill>
              </a:rPr>
              <a:t>dest</a:t>
            </a:r>
            <a:r>
              <a:rPr lang="fr-FR" dirty="0">
                <a:solidFill>
                  <a:srgbClr val="333F50"/>
                </a:solidFill>
              </a:rPr>
              <a:t>, la référence est toujours la dernière sauvegarde complète.</a:t>
            </a:r>
          </a:p>
          <a:p>
            <a:r>
              <a:rPr lang="fr-FR" dirty="0">
                <a:solidFill>
                  <a:srgbClr val="333F50"/>
                </a:solidFill>
              </a:rPr>
              <a:t>Seuls les fichiers différents sont copiés. Aucun </a:t>
            </a:r>
            <a:r>
              <a:rPr lang="fr-FR" dirty="0" err="1">
                <a:solidFill>
                  <a:srgbClr val="333F50"/>
                </a:solidFill>
              </a:rPr>
              <a:t>hardlink</a:t>
            </a:r>
            <a:r>
              <a:rPr lang="fr-FR" dirty="0">
                <a:solidFill>
                  <a:srgbClr val="333F50"/>
                </a:solidFill>
              </a:rPr>
              <a:t> n’est créé.</a:t>
            </a:r>
          </a:p>
        </p:txBody>
      </p:sp>
    </p:spTree>
    <p:extLst>
      <p:ext uri="{BB962C8B-B14F-4D97-AF65-F5344CB8AC3E}">
        <p14:creationId xmlns:p14="http://schemas.microsoft.com/office/powerpoint/2010/main" val="16775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4746C-82DE-9808-A276-CCBD4169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B2B4D7D8-AECD-AADC-70EB-3765EF51C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2E3F533-8D67-F9D2-0701-78670CCFD3D0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EC8EFE55-7D07-9DB8-1F9A-EFF089EF91D6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B749D3AC-AB29-A128-FA3B-F373F6D7BE7D}"/>
              </a:ext>
            </a:extLst>
          </p:cNvPr>
          <p:cNvSpPr txBox="1"/>
          <p:nvPr/>
        </p:nvSpPr>
        <p:spPr>
          <a:xfrm>
            <a:off x="5678906" y="288758"/>
            <a:ext cx="6033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333F50"/>
                </a:solidFill>
              </a:rPr>
              <a:t>Procédure de restauration des données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142524A-5BDB-18FB-17E7-A49212FEE452}"/>
              </a:ext>
            </a:extLst>
          </p:cNvPr>
          <p:cNvSpPr txBox="1"/>
          <p:nvPr/>
        </p:nvSpPr>
        <p:spPr>
          <a:xfrm>
            <a:off x="626164" y="1292087"/>
            <a:ext cx="7188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333F50"/>
                </a:solidFill>
              </a:rPr>
              <a:t>Première méthode, restauration par fichier ou dossier spécifique :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833D760-C0D2-055A-DF18-AFC7761FA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11" y="2110080"/>
            <a:ext cx="3924848" cy="174331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067D102-3A72-7033-E0FA-4BEAAE397730}"/>
              </a:ext>
            </a:extLst>
          </p:cNvPr>
          <p:cNvSpPr txBox="1"/>
          <p:nvPr/>
        </p:nvSpPr>
        <p:spPr>
          <a:xfrm>
            <a:off x="587064" y="1747758"/>
            <a:ext cx="10057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Exécuter le script avec la commande ./backup.sh et choisir l’option 5 (Menu de restauration des données)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42162CC-CA4F-0A4B-091D-88E12CDD6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967" y="4593500"/>
            <a:ext cx="3924848" cy="160995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1F1BE00-DD62-65C6-BA1F-9F6167349D15}"/>
              </a:ext>
            </a:extLst>
          </p:cNvPr>
          <p:cNvSpPr txBox="1"/>
          <p:nvPr/>
        </p:nvSpPr>
        <p:spPr>
          <a:xfrm>
            <a:off x="5416061" y="4139920"/>
            <a:ext cx="6178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Dans le menu, choisir l’option 2 (Restaurer un fichier spécifique)</a:t>
            </a:r>
          </a:p>
        </p:txBody>
      </p:sp>
    </p:spTree>
    <p:extLst>
      <p:ext uri="{BB962C8B-B14F-4D97-AF65-F5344CB8AC3E}">
        <p14:creationId xmlns:p14="http://schemas.microsoft.com/office/powerpoint/2010/main" val="2369570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7355E-2F1A-013D-6CAD-3DF1B574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679D006-F80F-EA3E-3A0C-CDD5A0A2A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B9148BD-16FE-D4D2-F2E0-79A5A600797F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96CC891-0B31-75DF-E519-02275142CA30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53BC65EE-8A3A-6ECD-5E88-CD492E740767}"/>
              </a:ext>
            </a:extLst>
          </p:cNvPr>
          <p:cNvSpPr txBox="1"/>
          <p:nvPr/>
        </p:nvSpPr>
        <p:spPr>
          <a:xfrm>
            <a:off x="5678906" y="288758"/>
            <a:ext cx="6033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333F50"/>
                </a:solidFill>
              </a:rPr>
              <a:t>Procédure de restauration des données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389700B-C46A-D151-6E4D-7CB57DC53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98" y="1108425"/>
            <a:ext cx="5582429" cy="570627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F14AA64-6EA0-D232-BDE0-9DFA17BA02DC}"/>
              </a:ext>
            </a:extLst>
          </p:cNvPr>
          <p:cNvSpPr txBox="1"/>
          <p:nvPr/>
        </p:nvSpPr>
        <p:spPr>
          <a:xfrm>
            <a:off x="6712299" y="2612572"/>
            <a:ext cx="4783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Dans le champ demandé, entrez le nom du fichier ou du dossier recherché (ici, « coucou »)</a:t>
            </a:r>
          </a:p>
          <a:p>
            <a:endParaRPr lang="fr-FR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script rechercha toutes les occurrences, classées en fonction du type de sauvegarde.</a:t>
            </a:r>
          </a:p>
          <a:p>
            <a:endParaRPr lang="fr-FR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Saisissez le numéro correspondant au fichier que vous souhaitez restaurer.</a:t>
            </a:r>
          </a:p>
        </p:txBody>
      </p:sp>
    </p:spTree>
    <p:extLst>
      <p:ext uri="{BB962C8B-B14F-4D97-AF65-F5344CB8AC3E}">
        <p14:creationId xmlns:p14="http://schemas.microsoft.com/office/powerpoint/2010/main" val="3546709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CF764-BC27-D10B-2EA2-977D882B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D13845F-E9A7-CE6F-07BE-7D7B03974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868DED1-7732-E02C-17C2-D2C1AF639837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7E3D868-02A9-F254-77AA-A059D52EE46D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E5E85A87-8DB7-8C84-2B4E-CC7CC661DF14}"/>
              </a:ext>
            </a:extLst>
          </p:cNvPr>
          <p:cNvSpPr txBox="1"/>
          <p:nvPr/>
        </p:nvSpPr>
        <p:spPr>
          <a:xfrm>
            <a:off x="5678906" y="288758"/>
            <a:ext cx="6033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333F50"/>
                </a:solidFill>
              </a:rPr>
              <a:t>Procédure de restauration des données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06759F9-29A1-3E9F-67CC-003AD5F50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900" y="1158441"/>
            <a:ext cx="9924382" cy="435988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C61757B-5CDA-96EC-C400-9BF30CD91A49}"/>
              </a:ext>
            </a:extLst>
          </p:cNvPr>
          <p:cNvSpPr txBox="1"/>
          <p:nvPr/>
        </p:nvSpPr>
        <p:spPr>
          <a:xfrm>
            <a:off x="1497206" y="5707464"/>
            <a:ext cx="9204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script restaurera automatique le fichier en vous précisant le répertoire dans lequel vous pourrez votre fichier.</a:t>
            </a:r>
          </a:p>
        </p:txBody>
      </p:sp>
    </p:spTree>
    <p:extLst>
      <p:ext uri="{BB962C8B-B14F-4D97-AF65-F5344CB8AC3E}">
        <p14:creationId xmlns:p14="http://schemas.microsoft.com/office/powerpoint/2010/main" val="217242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F6AB2-2D4B-A351-B22C-B06CD6D4C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84705A5-24DE-97C2-9C85-B26C3ACA0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D21671A-89AC-E2B7-DD6C-EA2B1114DBB7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1BCA182-944A-FC05-D21D-C78051A3B7FA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4F452508-7EA2-E757-3977-8C147DFAED09}"/>
              </a:ext>
            </a:extLst>
          </p:cNvPr>
          <p:cNvSpPr txBox="1"/>
          <p:nvPr/>
        </p:nvSpPr>
        <p:spPr>
          <a:xfrm>
            <a:off x="5678906" y="288758"/>
            <a:ext cx="6033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333F50"/>
                </a:solidFill>
              </a:rPr>
              <a:t>Procédure de restauration des données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BAEF16F-0A6C-69A0-D4D4-76DB1EDBA21A}"/>
              </a:ext>
            </a:extLst>
          </p:cNvPr>
          <p:cNvSpPr txBox="1"/>
          <p:nvPr/>
        </p:nvSpPr>
        <p:spPr>
          <a:xfrm>
            <a:off x="626164" y="1292087"/>
            <a:ext cx="7224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333F50"/>
                </a:solidFill>
              </a:rPr>
              <a:t>Seconde méthode, restauration depuis une sauvegarde complète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8E22D2F-7E6B-2BBD-59D7-81204DC50FEA}"/>
              </a:ext>
            </a:extLst>
          </p:cNvPr>
          <p:cNvSpPr txBox="1"/>
          <p:nvPr/>
        </p:nvSpPr>
        <p:spPr>
          <a:xfrm>
            <a:off x="663192" y="1657978"/>
            <a:ext cx="9887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Comme précédemment, allez dans le menu de restauration, mais choisissez l’option 3 (Restaurer depuis une sauvegarde complète). Une liste vous affichera l’ensemble des sauvegardes disponibles :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48B6FE5-9567-C576-F0B6-11A8949D8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472" y="2364533"/>
            <a:ext cx="3534268" cy="405821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93B1105-12F1-7457-455F-5F1D848E7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207" y="2736126"/>
            <a:ext cx="3724795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18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E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307A2-BF6A-37C0-CB68-19C20F81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C0608BE-DDF9-7B6C-0DA6-16B6E9B26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6" y="68044"/>
            <a:ext cx="3587579" cy="80761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E0765F8-78B3-61E3-C2FB-8326214B8FA4}"/>
              </a:ext>
            </a:extLst>
          </p:cNvPr>
          <p:cNvSpPr txBox="1"/>
          <p:nvPr/>
        </p:nvSpPr>
        <p:spPr>
          <a:xfrm>
            <a:off x="9632197" y="6429676"/>
            <a:ext cx="2559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Faivre Mickaël – 19/02/2025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6E0F788-F850-AB9E-1848-842668487F8D}"/>
              </a:ext>
            </a:extLst>
          </p:cNvPr>
          <p:cNvCxnSpPr/>
          <p:nvPr/>
        </p:nvCxnSpPr>
        <p:spPr>
          <a:xfrm>
            <a:off x="1078029" y="1049154"/>
            <a:ext cx="10077651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37A9080B-1B58-E59F-93A3-A00D263A831F}"/>
              </a:ext>
            </a:extLst>
          </p:cNvPr>
          <p:cNvSpPr txBox="1"/>
          <p:nvPr/>
        </p:nvSpPr>
        <p:spPr>
          <a:xfrm>
            <a:off x="5678906" y="288758"/>
            <a:ext cx="6033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333F50"/>
                </a:solidFill>
              </a:rPr>
              <a:t>Procédure de restauration des données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30A035-1A2E-BB42-AF1B-B945A6E13B17}"/>
              </a:ext>
            </a:extLst>
          </p:cNvPr>
          <p:cNvSpPr txBox="1"/>
          <p:nvPr/>
        </p:nvSpPr>
        <p:spPr>
          <a:xfrm>
            <a:off x="663192" y="1657978"/>
            <a:ext cx="9887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Saisissez le numéro de ligne correspondant au nom et à la date du dossier que vous souhaitez restauré.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756A10-01A3-4A0B-831F-130BD5709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51" y="2727183"/>
            <a:ext cx="9402487" cy="152421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67C1358-E838-B318-AC44-84ECD3AA6906}"/>
              </a:ext>
            </a:extLst>
          </p:cNvPr>
          <p:cNvSpPr txBox="1"/>
          <p:nvPr/>
        </p:nvSpPr>
        <p:spPr>
          <a:xfrm>
            <a:off x="1597687" y="4933741"/>
            <a:ext cx="9224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script téléchargera les données depuis le serveur de sauvegarde sur votre machine tout en vous indiquant le répertoire dans lequel vous pourrez retrouver les données restaurées.</a:t>
            </a:r>
          </a:p>
        </p:txBody>
      </p:sp>
    </p:spTree>
    <p:extLst>
      <p:ext uri="{BB962C8B-B14F-4D97-AF65-F5344CB8AC3E}">
        <p14:creationId xmlns:p14="http://schemas.microsoft.com/office/powerpoint/2010/main" val="22476531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3022</TotalTime>
  <Words>629</Words>
  <Application>Microsoft Office PowerPoint</Application>
  <PresentationFormat>Grand écran</PresentationFormat>
  <Paragraphs>92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mickael faivre</dc:creator>
  <cp:lastModifiedBy>mickael faivre</cp:lastModifiedBy>
  <cp:revision>8</cp:revision>
  <dcterms:created xsi:type="dcterms:W3CDTF">2025-03-04T11:17:25Z</dcterms:created>
  <dcterms:modified xsi:type="dcterms:W3CDTF">2025-03-09T15:45:48Z</dcterms:modified>
</cp:coreProperties>
</file>